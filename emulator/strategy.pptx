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64" r:id="rId6"/>
    <p:sldId id="259" r:id="rId7"/>
    <p:sldId id="265" r:id="rId8"/>
    <p:sldId id="268" r:id="rId9"/>
    <p:sldId id="275" r:id="rId10"/>
    <p:sldId id="267" r:id="rId11"/>
    <p:sldId id="28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E05DA-D435-489A-A164-3141914C353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78956-E3EC-4C36-8357-292C0D33E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2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F8D2-4055-92EC-CE6E-AC22B956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ADE5E5-F9CB-C7BD-D7ED-540495B04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BC40E6-1C90-0A79-88A1-052FCE0AF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4B855E-488C-FC68-15FA-399CC0762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983E-5040-4922-814B-51EA7291D0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660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D914-ACED-9442-4DD0-16798B38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6F373B-D976-A0A5-6756-A640FF119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F79696-6CC5-27AD-A20C-4C2D94999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7333C-374D-8D1D-ECBA-DE32FF234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983E-5040-4922-814B-51EA7291D0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533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BE11-1CD8-6EFF-66A4-2EE631CE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11CD0B-82BA-65A1-4549-E67A8FF5B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2309DA-D392-DEC8-99A5-83ADF3D9C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79E327-568A-1266-63A4-70DD88A33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983E-5040-4922-814B-51EA7291D0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662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85AB8-1295-A776-B491-93384E8C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47FC5B-955E-5592-A0DA-6F181BCC6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FEAE00-CB7F-698C-8A27-65C50E450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A4D474-7C94-853B-07FA-2CE1A442D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983E-5040-4922-814B-51EA7291D0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99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DF2E-FB19-C05F-2716-874944AE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21F8C6-34FA-18B7-1C88-5ADA83403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A24CE4-F7AF-3948-69F7-51600DFF9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51124D-DBCF-2AB7-2D84-6232D06D2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983E-5040-4922-814B-51EA7291D0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756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5673-0604-8DC2-01E1-28278F39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DF1F22-32FC-B428-D313-DD8AB992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99E004-3CE3-F96A-F54E-DDB055C9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FA99-7032-2841-E481-D4BC218AE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983E-5040-4922-814B-51EA7291D0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94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89574-B90D-AD02-7F9C-3EBD1E69D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877A16-5EDB-A5A4-DE24-6F57A577A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20A11-5335-4E41-134C-21C36D8F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65288-66D5-6A51-56FA-AB5283B5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3328F8-B105-A63B-0FC4-645E6E99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4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EDC86-236B-1797-5B21-56A511ED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1C6E9-D6A5-4F71-40DA-CFC6DA977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E9EA7-C52F-C71C-22C1-81895AB4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E8F7C-D80A-BA8B-117C-7B865345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1BD65-0FA4-CA2E-FFCD-C5FF95BD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0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26C4D-B2BE-B84B-3C90-BB267F9A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8F396C-5329-08E3-1131-376D6C34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B935A-F013-9E4A-E43F-B902A59E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C9C49A-1AA9-FC6A-42F3-FB0330C8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A668E-4EF4-09D8-8072-B1592E96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6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BF772-432B-9A9C-2FDE-24F68284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DA2CAC-1963-8BDF-5B91-8E2C27887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AA47EB-55F5-FD04-2623-7EDB7E874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F58C7-9216-D81D-09A8-15A478BF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0C4DBE-1826-37D7-3826-B92E8C29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4FC091-A227-5C8F-FFBD-95FDA107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84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2C8CA-96DD-5B7B-642C-F98BDA2B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3CACC3-389C-2715-C2BE-26B9E95C1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E6E3A8-D440-5688-109B-BA8AD9CE5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50BA07-BD26-5125-4374-7FB133B65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BD41AD-9F68-E8AD-BAC9-2147303CC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C23A3B-CD11-8A1C-F3D6-98FB220D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4820F2-DDCD-037C-92CA-CBE424CC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A00806-5BC3-92C3-7696-667A090A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12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69C6B-CD12-30CA-8787-2B47C051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0248E3-9D93-8991-5C20-3D9045EA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30DFC5-9771-7938-71D9-A505FD1B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EE473C-2400-4B1A-811A-5212577C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43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163511-69E3-712B-3008-BF1BDF58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2097A9-B0CD-04BC-DEBF-E7BF1D19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C13C4-E291-306C-DF31-6E15344F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33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92F9A-4748-9C39-C242-045A3918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735EB9-11CC-F584-D000-4FEF27C9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BC7DF8-57D0-EE89-1EDF-021306CA0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FAB453-7F9D-1CF8-8F9D-41C534E9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859FC8-8E74-5ABC-231F-E376EBCF0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7DE6D-B3FD-B2B2-C522-C91A7AAE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77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458E9-E4CF-B6D1-BE34-55F574D96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7F04AC-CE74-FA93-EBB8-8ED56956E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ADA8B1-5AAC-0F47-DFC0-AC1E235C0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4C6EF-43A8-5513-DEE3-0AD2B8B5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D211-1B07-1934-0C1A-DFEA2F41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89118C-CF3E-9393-555D-88ADBAAF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70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B8CC8-82E4-AFE4-E84E-DA9D3701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D40133-2D83-D686-E68C-1645E1BEF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F03F6-9A0E-81BC-EF5D-9AB474A4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2643F-68DC-AEEF-BFFA-F0A3A019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10FC0-F329-7A22-EADE-F848D11D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36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6D1D37-CB2B-BABD-7B88-7A78EF452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63C88-1F16-66DD-7135-03808AF44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70572-EA92-C60A-502D-8C9D2F12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47DCE-23A1-C4E5-C904-FD8BD64B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4B9709-D4AA-10BB-A4CC-BD6476CF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389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202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7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521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15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198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566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374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73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170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7132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79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CE3D11-4D21-2886-BBAA-E7611953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109E7-821B-4177-3787-0ECCEEAE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1C156B-1F6E-8F28-0F36-589EEB3A1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EFC7B-8DDA-49D4-A6D4-3E3660559A92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AC8059-78D6-B378-0C27-AAA4E3CB9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B5D30-E5E0-0F66-CDF6-4BA7E9153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890A9-45D2-43DF-8CDE-5A36A976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25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F528D-2AAD-4694-88AC-D2C832750D3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14CBE-B432-4C99-AEF0-5CCBE2A17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06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442E2A-655D-7408-70A5-0BADCB095082}"/>
              </a:ext>
            </a:extLst>
          </p:cNvPr>
          <p:cNvSpPr txBox="1"/>
          <p:nvPr/>
        </p:nvSpPr>
        <p:spPr>
          <a:xfrm>
            <a:off x="476797" y="406894"/>
            <a:ext cx="4317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短线单笔多仓交易法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5F5CB3-6F41-2E6A-2791-662C3941CA56}"/>
              </a:ext>
            </a:extLst>
          </p:cNvPr>
          <p:cNvSpPr txBox="1"/>
          <p:nvPr/>
        </p:nvSpPr>
        <p:spPr>
          <a:xfrm>
            <a:off x="476797" y="1298529"/>
            <a:ext cx="6537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 2.0 115 Black" panose="00020600040101010101" pitchFamily="18" charset="-122"/>
                <a:ea typeface="阿里巴巴普惠体 2.0 115 Black" panose="00020600040101010101" pitchFamily="18" charset="-122"/>
                <a:cs typeface="阿里巴巴普惠体 2.0 115 Black" panose="00020600040101010101" pitchFamily="18" charset="-122"/>
              </a:rPr>
              <a:t>具体操作</a:t>
            </a:r>
            <a:endParaRPr lang="en-US" altLang="zh-CN" dirty="0">
              <a:latin typeface="阿里巴巴普惠体 2.0 115 Black" panose="00020600040101010101" pitchFamily="18" charset="-122"/>
              <a:ea typeface="阿里巴巴普惠体 2.0 115 Black" panose="00020600040101010101" pitchFamily="18" charset="-122"/>
              <a:cs typeface="阿里巴巴普惠体 2.0 115 Black" panose="00020600040101010101" pitchFamily="18" charset="-122"/>
            </a:endParaRP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每</a:t>
            </a:r>
            <a:r>
              <a: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2</a:t>
            </a: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块钱买入一笔，记录克重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每</a:t>
            </a:r>
            <a:r>
              <a: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2</a:t>
            </a: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块钱卖出一笔，卖出克重为 现价</a:t>
            </a:r>
            <a:r>
              <a: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-4</a:t>
            </a: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块钱 对应的那笔克重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1FFD12-7F3A-32A6-78DD-0FBB9232FF72}"/>
              </a:ext>
            </a:extLst>
          </p:cNvPr>
          <p:cNvSpPr txBox="1"/>
          <p:nvPr/>
        </p:nvSpPr>
        <p:spPr>
          <a:xfrm>
            <a:off x="476797" y="3299901"/>
            <a:ext cx="47679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 2.0 115 Black" panose="00020600040101010101" pitchFamily="18" charset="-122"/>
                <a:ea typeface="阿里巴巴普惠体 2.0 115 Black" panose="00020600040101010101" pitchFamily="18" charset="-122"/>
                <a:cs typeface="阿里巴巴普惠体 2.0 115 Black" panose="00020600040101010101" pitchFamily="18" charset="-122"/>
              </a:rPr>
              <a:t>原理</a:t>
            </a:r>
            <a:endParaRPr lang="en-US" altLang="zh-CN" dirty="0">
              <a:latin typeface="阿里巴巴普惠体 2.0 115 Black" panose="00020600040101010101" pitchFamily="18" charset="-122"/>
              <a:ea typeface="阿里巴巴普惠体 2.0 115 Black" panose="00020600040101010101" pitchFamily="18" charset="-122"/>
              <a:cs typeface="阿里巴巴普惠体 2.0 115 Black" panose="00020600040101010101" pitchFamily="18" charset="-122"/>
            </a:endParaRPr>
          </a:p>
          <a:p>
            <a:endParaRPr lang="en-US" altLang="zh-CN" dirty="0"/>
          </a:p>
          <a:p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短线是为了从价格波动（而非长期上涨）中获利，并且可以缩短资本周转周期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为了尽可能多地捕捉到价格波动，需要多仓，这样相当于每涨</a:t>
            </a:r>
            <a:r>
              <a: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2</a:t>
            </a: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块钱，就能赚一笔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单笔是为了好算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31490B-1DE1-21B5-120B-72CE7DFFC7E8}"/>
              </a:ext>
            </a:extLst>
          </p:cNvPr>
          <p:cNvSpPr txBox="1"/>
          <p:nvPr/>
        </p:nvSpPr>
        <p:spPr>
          <a:xfrm>
            <a:off x="6096000" y="3299901"/>
            <a:ext cx="53318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 2.0 115 Black" panose="00020600040101010101" pitchFamily="18" charset="-122"/>
                <a:ea typeface="阿里巴巴普惠体 2.0 115 Black" panose="00020600040101010101" pitchFamily="18" charset="-122"/>
                <a:cs typeface="阿里巴巴普惠体 2.0 115 Black" panose="00020600040101010101" pitchFamily="18" charset="-122"/>
              </a:rPr>
              <a:t>利润</a:t>
            </a:r>
            <a:endParaRPr lang="en-US" altLang="zh-CN" dirty="0">
              <a:latin typeface="阿里巴巴普惠体 2.0 115 Black" panose="00020600040101010101" pitchFamily="18" charset="-122"/>
              <a:ea typeface="阿里巴巴普惠体 2.0 115 Black" panose="00020600040101010101" pitchFamily="18" charset="-122"/>
              <a:cs typeface="阿里巴巴普惠体 2.0 115 Black" panose="00020600040101010101" pitchFamily="18" charset="-122"/>
            </a:endParaRPr>
          </a:p>
          <a:p>
            <a:endParaRPr lang="en-US" altLang="zh-CN" dirty="0"/>
          </a:p>
          <a:p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可以取极限来看，如果分仓分得足够多，每涨一分钱都能获利一次，付出的成本只是每次卖出的手续费（大概</a:t>
            </a:r>
            <a:r>
              <a: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2</a:t>
            </a: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块）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也就是说，从长期来看，最差情况（价格只涨不跌）时，利润率也有涨幅的一半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比长线持有的优势是，黄金不一定一直涨，但每天平均都有</a:t>
            </a:r>
            <a:r>
              <a: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3~4</a:t>
            </a:r>
            <a:r>
              <a:rPr lang="zh-CN" altLang="en-US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块钱的波动，只要分仓抓住这些波动就能赚钱</a:t>
            </a:r>
            <a:endParaRPr lang="en-US" altLang="zh-CN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8C58E8F-E30C-9EBC-1837-7CC43DFAA17A}"/>
              </a:ext>
            </a:extLst>
          </p:cNvPr>
          <p:cNvGrpSpPr/>
          <p:nvPr/>
        </p:nvGrpSpPr>
        <p:grpSpPr>
          <a:xfrm>
            <a:off x="7916092" y="919824"/>
            <a:ext cx="3448595" cy="1724297"/>
            <a:chOff x="8098971" y="1051560"/>
            <a:chExt cx="3448595" cy="1724297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B53FF5B-8063-5B8A-CBCA-231EAACDA825}"/>
                </a:ext>
              </a:extLst>
            </p:cNvPr>
            <p:cNvSpPr/>
            <p:nvPr/>
          </p:nvSpPr>
          <p:spPr>
            <a:xfrm>
              <a:off x="8098971" y="1051560"/>
              <a:ext cx="3448595" cy="172429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3B00F2E-C96E-E4F4-483D-82221FE65FDA}"/>
                </a:ext>
              </a:extLst>
            </p:cNvPr>
            <p:cNvSpPr txBox="1"/>
            <p:nvPr/>
          </p:nvSpPr>
          <p:spPr>
            <a:xfrm>
              <a:off x="8218714" y="1202734"/>
              <a:ext cx="311984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阿里巴巴普惠体 2.0 115 Black" panose="00020600040101010101" pitchFamily="18" charset="-122"/>
                  <a:ea typeface="阿里巴巴普惠体 2.0 115 Black" panose="00020600040101010101" pitchFamily="18" charset="-122"/>
                  <a:cs typeface="阿里巴巴普惠体 2.0 115 Black" panose="00020600040101010101" pitchFamily="18" charset="-122"/>
                </a:rPr>
                <a:t>基础</a:t>
              </a:r>
              <a:endParaRPr lang="en-US" altLang="zh-CN" dirty="0">
                <a:latin typeface="阿里巴巴普惠体 2.0 115 Black" panose="00020600040101010101" pitchFamily="18" charset="-122"/>
                <a:ea typeface="阿里巴巴普惠体 2.0 115 Black" panose="00020600040101010101" pitchFamily="18" charset="-122"/>
                <a:cs typeface="阿里巴巴普惠体 2.0 115 Black" panose="00020600040101010101" pitchFamily="18" charset="-122"/>
              </a:endParaRPr>
            </a:p>
            <a:p>
              <a:endParaRPr lang="en-US" altLang="zh-CN" dirty="0"/>
            </a:p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把时间拉到无限长，黄金价格一定是上涨的，所以买的每笔一定都能卖出去，不会亏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F03A1EE-F11A-2508-076A-E4E9AD65F062}"/>
              </a:ext>
            </a:extLst>
          </p:cNvPr>
          <p:cNvSpPr txBox="1"/>
          <p:nvPr/>
        </p:nvSpPr>
        <p:spPr>
          <a:xfrm>
            <a:off x="6947263" y="3244334"/>
            <a:ext cx="281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手续费：卖出价格</a:t>
            </a:r>
            <a:r>
              <a:rPr lang="en-US" altLang="zh-CN" dirty="0">
                <a:solidFill>
                  <a:schemeClr val="accent1"/>
                </a:solidFill>
              </a:rPr>
              <a:t>0.3%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48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762F-DFEA-3D4A-17D9-E77F4344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42957A-20EC-5B8D-F110-5DE6EAD99CA5}"/>
              </a:ext>
            </a:extLst>
          </p:cNvPr>
          <p:cNvSpPr txBox="1"/>
          <p:nvPr/>
        </p:nvSpPr>
        <p:spPr>
          <a:xfrm>
            <a:off x="476797" y="406894"/>
            <a:ext cx="4317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短线单笔多仓交易法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AE86500-5350-ECDA-7B11-8EED302607BF}"/>
                  </a:ext>
                </a:extLst>
              </p:cNvPr>
              <p:cNvSpPr txBox="1"/>
              <p:nvPr/>
            </p:nvSpPr>
            <p:spPr>
              <a:xfrm>
                <a:off x="476797" y="1298529"/>
                <a:ext cx="7733209" cy="3809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阿里巴巴普惠体 2.0 115 Black" panose="00020600040101010101" pitchFamily="18" charset="-122"/>
                    <a:ea typeface="阿里巴巴普惠体 2.0 115 Black" panose="00020600040101010101" pitchFamily="18" charset="-122"/>
                    <a:cs typeface="阿里巴巴普惠体 2.0 115 Black" panose="00020600040101010101" pitchFamily="18" charset="-122"/>
                  </a:rPr>
                  <a:t>极限情况利润计算：</a:t>
                </a:r>
                <a:endParaRPr lang="en-US" altLang="zh-CN" dirty="0">
                  <a:latin typeface="阿里巴巴普惠体 2.0 115 Black" panose="00020600040101010101" pitchFamily="18" charset="-122"/>
                  <a:ea typeface="阿里巴巴普惠体 2.0 115 Black" panose="00020600040101010101" pitchFamily="18" charset="-122"/>
                  <a:cs typeface="阿里巴巴普惠体 2.0 115 Black" panose="00020600040101010101" pitchFamily="18" charset="-122"/>
                </a:endParaRPr>
              </a:p>
              <a:p>
                <a:endParaRPr lang="en-US" altLang="zh-CN" dirty="0">
                  <a:latin typeface="阿里巴巴普惠体 2.0 115 Black" panose="00020600040101010101" pitchFamily="18" charset="-122"/>
                  <a:ea typeface="阿里巴巴普惠体 2.0 115 Black" panose="00020600040101010101" pitchFamily="18" charset="-122"/>
                  <a:cs typeface="阿里巴巴普惠体 2.0 115 Black" panose="00020600040101010101" pitchFamily="18" charset="-122"/>
                </a:endParaRP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每分钱一层仓，每层仓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X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元；涨价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n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元后卖出，卖出手续费为卖出价格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0.3%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，设买入时黄金价格为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m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</a:t>
                </a:r>
                <a:endPara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endPara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endPara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买入克重 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= X/m</a:t>
                </a: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卖出价格 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= (X/m)*(m + n)</a:t>
                </a: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实际到账 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= (X/m)*(m + n)*(0.997)</a:t>
                </a:r>
              </a:p>
              <a:p>
                <a:endPara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每仓收益：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 </a:t>
                </a:r>
                <a:r>
                  <a:rPr lang="en-US" altLang="zh-CN" dirty="0">
                    <a:solidFill>
                      <a:schemeClr val="accent4">
                        <a:lumMod val="75000"/>
                      </a:schemeClr>
                    </a:solidFill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(X/m)*(m + n)*(0.997) – X</a:t>
                </a:r>
              </a:p>
              <a:p>
                <a:endParaRPr lang="en-US" altLang="zh-CN" dirty="0">
                  <a:solidFill>
                    <a:schemeClr val="accent4">
                      <a:lumMod val="75000"/>
                    </a:schemeClr>
                  </a:solidFill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r>
                  <a:rPr lang="en-US" altLang="zh-CN" dirty="0">
                    <a:solidFill>
                      <a:schemeClr val="accent4">
                        <a:lumMod val="75000"/>
                      </a:schemeClr>
                    </a:solidFill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阿里巴巴普惠体 2.0 65 Medium" panose="00020600040101010101" pitchFamily="18" charset="-122"/>
                        <a:cs typeface="阿里巴巴普惠体 2.0 65 Medium" panose="00020600040101010101" pitchFamily="18" charset="-122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  <m:t>0.997</m:t>
                        </m:r>
                        <m:r>
                          <a:rPr lang="en-US" altLang="zh-CN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  <m:t>𝑋𝑛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  <m:t>𝑚</m:t>
                        </m:r>
                      </m:den>
                    </m:f>
                    <m:r>
                      <a:rPr lang="en-US" altLang="zh-CN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阿里巴巴普惠体 2.0 65 Medium" panose="00020600040101010101" pitchFamily="18" charset="-122"/>
                        <a:cs typeface="阿里巴巴普惠体 2.0 65 Medium" panose="00020600040101010101" pitchFamily="18" charset="-122"/>
                      </a:rPr>
                      <m:t>−0.003</m:t>
                    </m:r>
                    <m:r>
                      <a:rPr lang="en-US" altLang="zh-CN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阿里巴巴普惠体 2.0 65 Medium" panose="00020600040101010101" pitchFamily="18" charset="-122"/>
                        <a:cs typeface="阿里巴巴普惠体 2.0 65 Medium" panose="00020600040101010101" pitchFamily="18" charset="-122"/>
                      </a:rPr>
                      <m:t>𝑋</m:t>
                    </m:r>
                  </m:oMath>
                </a14:m>
                <a:endParaRPr lang="zh-CN" altLang="en-US" dirty="0">
                  <a:solidFill>
                    <a:schemeClr val="accent4">
                      <a:lumMod val="75000"/>
                    </a:schemeClr>
                  </a:solidFill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AE86500-5350-ECDA-7B11-8EED30260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97" y="1298529"/>
                <a:ext cx="7733209" cy="3809633"/>
              </a:xfrm>
              <a:prstGeom prst="rect">
                <a:avLst/>
              </a:prstGeom>
              <a:blipFill>
                <a:blip r:embed="rId2"/>
                <a:stretch>
                  <a:fillRect l="-630" t="-800" r="-1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A533AC-100C-D191-4E03-88AF9E73886E}"/>
                  </a:ext>
                </a:extLst>
              </p:cNvPr>
              <p:cNvSpPr txBox="1"/>
              <p:nvPr/>
            </p:nvSpPr>
            <p:spPr>
              <a:xfrm>
                <a:off x="574766" y="5272172"/>
                <a:ext cx="1902765" cy="39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获利条件：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997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A533AC-100C-D191-4E03-88AF9E73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5272172"/>
                <a:ext cx="1902765" cy="393185"/>
              </a:xfrm>
              <a:prstGeom prst="rect">
                <a:avLst/>
              </a:prstGeom>
              <a:blipFill>
                <a:blip r:embed="rId3"/>
                <a:stretch>
                  <a:fillRect l="-7372" t="-3125" r="-2244" b="-23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A63EFC60-C1CA-351A-3611-91CA436E1294}"/>
              </a:ext>
            </a:extLst>
          </p:cNvPr>
          <p:cNvGrpSpPr/>
          <p:nvPr/>
        </p:nvGrpSpPr>
        <p:grpSpPr>
          <a:xfrm>
            <a:off x="5434149" y="2736669"/>
            <a:ext cx="6085112" cy="1195251"/>
            <a:chOff x="5630091" y="4813663"/>
            <a:chExt cx="6085112" cy="119525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FDA6323-47C4-0586-74FC-6384FDEA3B4C}"/>
                </a:ext>
              </a:extLst>
            </p:cNvPr>
            <p:cNvSpPr/>
            <p:nvPr/>
          </p:nvSpPr>
          <p:spPr>
            <a:xfrm>
              <a:off x="5630091" y="4813663"/>
              <a:ext cx="6085112" cy="11952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D153393-3AB9-1CD9-940B-F1366C945334}"/>
                </a:ext>
              </a:extLst>
            </p:cNvPr>
            <p:cNvSpPr txBox="1"/>
            <p:nvPr/>
          </p:nvSpPr>
          <p:spPr>
            <a:xfrm>
              <a:off x="5766161" y="4949623"/>
              <a:ext cx="58129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关于</a:t>
              </a:r>
              <a:r>
                <a: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n</a:t>
              </a:r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单调增，捕获市场波动要靠分仓而不是涨一点就卖</a:t>
              </a:r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  <a:p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分仓越多越好，上涨的每分钱都能捕获到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53E7715-346D-C0F4-4A81-7CA2D1A738F8}"/>
              </a:ext>
            </a:extLst>
          </p:cNvPr>
          <p:cNvGrpSpPr/>
          <p:nvPr/>
        </p:nvGrpSpPr>
        <p:grpSpPr>
          <a:xfrm>
            <a:off x="5434149" y="4266432"/>
            <a:ext cx="6085112" cy="1195251"/>
            <a:chOff x="5630091" y="4813663"/>
            <a:chExt cx="6085112" cy="119525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2F2D373-E95F-408E-9778-313A5C4B9322}"/>
                </a:ext>
              </a:extLst>
            </p:cNvPr>
            <p:cNvSpPr/>
            <p:nvPr/>
          </p:nvSpPr>
          <p:spPr>
            <a:xfrm>
              <a:off x="5630091" y="4813663"/>
              <a:ext cx="6085112" cy="11952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285826A-9D6C-E0B9-82BA-ED6C14C0F302}"/>
                </a:ext>
              </a:extLst>
            </p:cNvPr>
            <p:cNvSpPr txBox="1"/>
            <p:nvPr/>
          </p:nvSpPr>
          <p:spPr>
            <a:xfrm>
              <a:off x="5766161" y="4949623"/>
              <a:ext cx="58129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关于</a:t>
              </a:r>
              <a:r>
                <a: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X</a:t>
              </a:r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是线性的，没必要加大投入</a:t>
              </a:r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  <a:p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只需要每仓满足最低起购价</a:t>
              </a:r>
              <a:r>
                <a: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650</a:t>
              </a:r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元即可</a:t>
              </a:r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785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6E5C-68E4-0A65-36D3-9C401456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049D3F-93B5-592B-8B21-956D21A09759}"/>
              </a:ext>
            </a:extLst>
          </p:cNvPr>
          <p:cNvSpPr txBox="1"/>
          <p:nvPr/>
        </p:nvSpPr>
        <p:spPr>
          <a:xfrm>
            <a:off x="476797" y="406894"/>
            <a:ext cx="4317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短线单笔多仓交易法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53AB5B0-18B8-B4DB-2B69-C8C1E468D844}"/>
                  </a:ext>
                </a:extLst>
              </p:cNvPr>
              <p:cNvSpPr txBox="1"/>
              <p:nvPr/>
            </p:nvSpPr>
            <p:spPr>
              <a:xfrm>
                <a:off x="476797" y="1298529"/>
                <a:ext cx="7733209" cy="1893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阿里巴巴普惠体 2.0 115 Black" panose="00020600040101010101" pitchFamily="18" charset="-122"/>
                    <a:ea typeface="阿里巴巴普惠体 2.0 115 Black" panose="00020600040101010101" pitchFamily="18" charset="-122"/>
                    <a:cs typeface="阿里巴巴普惠体 2.0 115 Black" panose="00020600040101010101" pitchFamily="18" charset="-122"/>
                  </a:rPr>
                  <a:t>总金额与</a:t>
                </a:r>
                <a:r>
                  <a:rPr lang="en-US" altLang="zh-CN" dirty="0">
                    <a:latin typeface="阿里巴巴普惠体 2.0 115 Black" panose="00020600040101010101" pitchFamily="18" charset="-122"/>
                    <a:ea typeface="阿里巴巴普惠体 2.0 115 Black" panose="00020600040101010101" pitchFamily="18" charset="-122"/>
                    <a:cs typeface="阿里巴巴普惠体 2.0 115 Black" panose="00020600040101010101" pitchFamily="18" charset="-122"/>
                  </a:rPr>
                  <a:t>X</a:t>
                </a:r>
                <a:r>
                  <a:rPr lang="zh-CN" altLang="en-US" dirty="0">
                    <a:latin typeface="阿里巴巴普惠体 2.0 115 Black" panose="00020600040101010101" pitchFamily="18" charset="-122"/>
                    <a:ea typeface="阿里巴巴普惠体 2.0 115 Black" panose="00020600040101010101" pitchFamily="18" charset="-122"/>
                    <a:cs typeface="阿里巴巴普惠体 2.0 115 Black" panose="00020600040101010101" pitchFamily="18" charset="-122"/>
                  </a:rPr>
                  <a:t>计算：</a:t>
                </a:r>
                <a:endParaRPr lang="en-US" altLang="zh-CN" dirty="0">
                  <a:latin typeface="阿里巴巴普惠体 2.0 115 Black" panose="00020600040101010101" pitchFamily="18" charset="-122"/>
                  <a:ea typeface="阿里巴巴普惠体 2.0 115 Black" panose="00020600040101010101" pitchFamily="18" charset="-122"/>
                  <a:cs typeface="阿里巴巴普惠体 2.0 115 Black" panose="00020600040101010101" pitchFamily="18" charset="-122"/>
                </a:endParaRPr>
              </a:p>
              <a:p>
                <a:endParaRPr lang="en-US" altLang="zh-CN" dirty="0">
                  <a:latin typeface="阿里巴巴普惠体 2.0 115 Black" panose="00020600040101010101" pitchFamily="18" charset="-122"/>
                  <a:ea typeface="阿里巴巴普惠体 2.0 115 Black" panose="00020600040101010101" pitchFamily="18" charset="-122"/>
                  <a:cs typeface="阿里巴巴普惠体 2.0 115 Black" panose="00020600040101010101" pitchFamily="18" charset="-122"/>
                </a:endParaRP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每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s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元一层仓，每层仓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X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元，涨价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n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元后卖出，所需总额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SUM</a:t>
                </a:r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元</a:t>
                </a:r>
                <a:endPara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endPara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固定仓数 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= n/s</a:t>
                </a:r>
              </a:p>
              <a:p>
                <a:r>
                  <a:rPr lang="zh-CN" altLang="en-US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所需总额</a:t>
                </a:r>
                <a:r>
                  <a:rPr lang="en-US" altLang="zh-CN" dirty="0">
                    <a:latin typeface="阿里巴巴普惠体 2.0 65 Medium" panose="00020600040101010101" pitchFamily="18" charset="-122"/>
                    <a:ea typeface="阿里巴巴普惠体 2.0 65 Medium" panose="00020600040101010101" pitchFamily="18" charset="-122"/>
                    <a:cs typeface="阿里巴巴普惠体 2.0 65 Medium" panose="00020600040101010101" pitchFamily="18" charset="-122"/>
                  </a:rPr>
                  <a:t>SUM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  <m:t>𝑛𝑋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阿里巴巴普惠体 2.0 65 Medium" panose="00020600040101010101" pitchFamily="18" charset="-122"/>
                            <a:cs typeface="阿里巴巴普惠体 2.0 65 Medium" panose="00020600040101010101" pitchFamily="18" charset="-122"/>
                          </a:rPr>
                          <m:t>𝑆</m:t>
                        </m:r>
                      </m:den>
                    </m:f>
                  </m:oMath>
                </a14:m>
                <a:endParaRPr lang="zh-CN" altLang="en-US" dirty="0">
                  <a:solidFill>
                    <a:schemeClr val="accent4">
                      <a:lumMod val="75000"/>
                    </a:schemeClr>
                  </a:solidFill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53AB5B0-18B8-B4DB-2B69-C8C1E468D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97" y="1298529"/>
                <a:ext cx="7733209" cy="1893532"/>
              </a:xfrm>
              <a:prstGeom prst="rect">
                <a:avLst/>
              </a:prstGeom>
              <a:blipFill>
                <a:blip r:embed="rId2"/>
                <a:stretch>
                  <a:fillRect l="-630" t="-1608" b="-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3E5ED552-801C-ACB3-A141-EDF1C153C8B3}"/>
              </a:ext>
            </a:extLst>
          </p:cNvPr>
          <p:cNvGrpSpPr/>
          <p:nvPr/>
        </p:nvGrpSpPr>
        <p:grpSpPr>
          <a:xfrm>
            <a:off x="5434149" y="4266432"/>
            <a:ext cx="6085112" cy="1195251"/>
            <a:chOff x="5630091" y="4813663"/>
            <a:chExt cx="6085112" cy="119525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93E6C41-6C50-3ED0-6E14-EF56FE31AC10}"/>
                </a:ext>
              </a:extLst>
            </p:cNvPr>
            <p:cNvSpPr/>
            <p:nvPr/>
          </p:nvSpPr>
          <p:spPr>
            <a:xfrm>
              <a:off x="5630091" y="4813663"/>
              <a:ext cx="6085112" cy="11952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9022D6-031A-2950-13CB-CEB746A18614}"/>
                </a:ext>
              </a:extLst>
            </p:cNvPr>
            <p:cNvSpPr txBox="1"/>
            <p:nvPr/>
          </p:nvSpPr>
          <p:spPr>
            <a:xfrm>
              <a:off x="5766161" y="4949623"/>
              <a:ext cx="58129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关于</a:t>
              </a:r>
              <a:r>
                <a: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X</a:t>
              </a:r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是线性的，没必要加大投入</a:t>
              </a:r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  <a:p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  <a:p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只需要每仓满足最低起购价</a:t>
              </a:r>
              <a:r>
                <a:rPr lang="en-US" altLang="zh-CN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650</a:t>
              </a:r>
              <a:r>
                <a:rPr lang="zh-CN" altLang="en-US" dirty="0">
                  <a:latin typeface="阿里巴巴普惠体 2.0 65 Medium" panose="00020600040101010101" pitchFamily="18" charset="-122"/>
                  <a:ea typeface="阿里巴巴普惠体 2.0 65 Medium" panose="00020600040101010101" pitchFamily="18" charset="-122"/>
                  <a:cs typeface="阿里巴巴普惠体 2.0 65 Medium" panose="00020600040101010101" pitchFamily="18" charset="-122"/>
                </a:rPr>
                <a:t>元即可</a:t>
              </a:r>
              <a:endParaRPr lang="en-US" altLang="zh-CN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060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F0946-6B71-1CA2-1401-7EB2B5C9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E6BFFEA-3C5D-2BDE-1BBB-98365690DAB8}"/>
              </a:ext>
            </a:extLst>
          </p:cNvPr>
          <p:cNvSpPr txBox="1"/>
          <p:nvPr/>
        </p:nvSpPr>
        <p:spPr>
          <a:xfrm>
            <a:off x="3254828" y="2757715"/>
            <a:ext cx="5548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Front-end design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23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16F7-E30F-3A94-1CA2-FF758BFC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117A561-5416-3E39-1CB7-7588420F06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A3849F3-9C79-5210-EE7B-EBA9534861F2}"/>
              </a:ext>
            </a:extLst>
          </p:cNvPr>
          <p:cNvGrpSpPr/>
          <p:nvPr/>
        </p:nvGrpSpPr>
        <p:grpSpPr>
          <a:xfrm>
            <a:off x="689212" y="1050877"/>
            <a:ext cx="6448567" cy="4653888"/>
            <a:chOff x="702860" y="825688"/>
            <a:chExt cx="6448567" cy="465388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BF5751A-9685-A438-6CC0-C74AF3C7BDB0}"/>
                </a:ext>
              </a:extLst>
            </p:cNvPr>
            <p:cNvSpPr/>
            <p:nvPr/>
          </p:nvSpPr>
          <p:spPr>
            <a:xfrm>
              <a:off x="702860" y="825688"/>
              <a:ext cx="6448567" cy="465388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E7E6AE0-CB09-769C-72BC-D01EC6DDAD98}"/>
                </a:ext>
              </a:extLst>
            </p:cNvPr>
            <p:cNvGrpSpPr/>
            <p:nvPr/>
          </p:nvGrpSpPr>
          <p:grpSpPr>
            <a:xfrm>
              <a:off x="945177" y="1247314"/>
              <a:ext cx="5673985" cy="406916"/>
              <a:chOff x="5308107" y="1862678"/>
              <a:chExt cx="4852135" cy="471951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509A376-0F13-DD6D-5CE5-05A51A63E1A4}"/>
                  </a:ext>
                </a:extLst>
              </p:cNvPr>
              <p:cNvSpPr txBox="1"/>
              <p:nvPr/>
            </p:nvSpPr>
            <p:spPr>
              <a:xfrm>
                <a:off x="5308107" y="1908000"/>
                <a:ext cx="1808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/>
                  <a:t>Transaction Time</a:t>
                </a:r>
                <a:endParaRPr lang="zh-CN" altLang="en-US" b="1" dirty="0"/>
              </a:p>
            </p:txBody>
          </p:sp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2105A344-E3FF-4853-5278-A02AC80EE8E7}"/>
                  </a:ext>
                </a:extLst>
              </p:cNvPr>
              <p:cNvSpPr/>
              <p:nvPr/>
            </p:nvSpPr>
            <p:spPr>
              <a:xfrm>
                <a:off x="7117105" y="1862678"/>
                <a:ext cx="3043137" cy="47195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to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230FD831-8E78-5EDB-51B7-FDE7473A9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04647" y="1940245"/>
                <a:ext cx="295316" cy="304843"/>
              </a:xfrm>
              <a:prstGeom prst="rect">
                <a:avLst/>
              </a:prstGeom>
            </p:spPr>
          </p:pic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FBA6885-3340-030D-7DEF-FE730485C64B}"/>
                </a:ext>
              </a:extLst>
            </p:cNvPr>
            <p:cNvGrpSpPr/>
            <p:nvPr/>
          </p:nvGrpSpPr>
          <p:grpSpPr>
            <a:xfrm>
              <a:off x="945177" y="2016840"/>
              <a:ext cx="5673985" cy="471951"/>
              <a:chOff x="5308107" y="1862678"/>
              <a:chExt cx="4852135" cy="471951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CA6CA0F-ADC7-DB06-BE9C-5C11A58B4F54}"/>
                  </a:ext>
                </a:extLst>
              </p:cNvPr>
              <p:cNvSpPr txBox="1"/>
              <p:nvPr/>
            </p:nvSpPr>
            <p:spPr>
              <a:xfrm>
                <a:off x="5308107" y="1908000"/>
                <a:ext cx="1808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/>
                  <a:t>Amount</a:t>
                </a:r>
                <a:endParaRPr lang="zh-CN" altLang="en-US" b="1" dirty="0"/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5761D8A-1F23-C35F-DB01-8C38DBF930AE}"/>
                  </a:ext>
                </a:extLst>
              </p:cNvPr>
              <p:cNvSpPr/>
              <p:nvPr/>
            </p:nvSpPr>
            <p:spPr>
              <a:xfrm>
                <a:off x="7117105" y="1862678"/>
                <a:ext cx="3043137" cy="47195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￥</a:t>
                </a: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A1F3B17-BA95-7464-4AD1-78F4A528AAF1}"/>
                </a:ext>
              </a:extLst>
            </p:cNvPr>
            <p:cNvGrpSpPr/>
            <p:nvPr/>
          </p:nvGrpSpPr>
          <p:grpSpPr>
            <a:xfrm>
              <a:off x="945177" y="3685962"/>
              <a:ext cx="5673985" cy="471951"/>
              <a:chOff x="5308107" y="1862678"/>
              <a:chExt cx="4852135" cy="471951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9B9695A-2463-A8B0-66FF-1CE432CC5724}"/>
                  </a:ext>
                </a:extLst>
              </p:cNvPr>
              <p:cNvSpPr txBox="1"/>
              <p:nvPr/>
            </p:nvSpPr>
            <p:spPr>
              <a:xfrm>
                <a:off x="5308107" y="1908000"/>
                <a:ext cx="1808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/>
                  <a:t>Difference</a:t>
                </a:r>
                <a:endParaRPr lang="zh-CN" altLang="en-US" b="1" dirty="0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7CDBCEF4-D287-FCDE-B620-C0274E4C513C}"/>
                  </a:ext>
                </a:extLst>
              </p:cNvPr>
              <p:cNvSpPr/>
              <p:nvPr/>
            </p:nvSpPr>
            <p:spPr>
              <a:xfrm>
                <a:off x="7117105" y="1862678"/>
                <a:ext cx="3043137" cy="47195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￥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90804A9-46AD-5C26-6D70-FADDA89BB100}"/>
                </a:ext>
              </a:extLst>
            </p:cNvPr>
            <p:cNvGrpSpPr/>
            <p:nvPr/>
          </p:nvGrpSpPr>
          <p:grpSpPr>
            <a:xfrm>
              <a:off x="945177" y="2851401"/>
              <a:ext cx="5673985" cy="471951"/>
              <a:chOff x="5308107" y="1862678"/>
              <a:chExt cx="4852135" cy="471951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4055B27-F1AF-412B-63EB-39AFE0524B84}"/>
                  </a:ext>
                </a:extLst>
              </p:cNvPr>
              <p:cNvSpPr txBox="1"/>
              <p:nvPr/>
            </p:nvSpPr>
            <p:spPr>
              <a:xfrm>
                <a:off x="5308107" y="1908000"/>
                <a:ext cx="1808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/>
                  <a:t>Single Amount</a:t>
                </a:r>
                <a:endParaRPr lang="zh-CN" altLang="en-US" b="1" dirty="0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683B8D48-1F74-82DC-C23F-C477A608EA3C}"/>
                  </a:ext>
                </a:extLst>
              </p:cNvPr>
              <p:cNvSpPr/>
              <p:nvPr/>
            </p:nvSpPr>
            <p:spPr>
              <a:xfrm>
                <a:off x="7117105" y="1862678"/>
                <a:ext cx="3043137" cy="47195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￥</a:t>
                </a: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B35BA97-9250-EC86-FE18-661EFAA356C0}"/>
                </a:ext>
              </a:extLst>
            </p:cNvPr>
            <p:cNvGrpSpPr/>
            <p:nvPr/>
          </p:nvGrpSpPr>
          <p:grpSpPr>
            <a:xfrm>
              <a:off x="945177" y="4520523"/>
              <a:ext cx="5673985" cy="471951"/>
              <a:chOff x="5308107" y="1862678"/>
              <a:chExt cx="4852135" cy="471951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D6F345D-5379-6EB8-D0BE-B4E17AA825DF}"/>
                  </a:ext>
                </a:extLst>
              </p:cNvPr>
              <p:cNvSpPr txBox="1"/>
              <p:nvPr/>
            </p:nvSpPr>
            <p:spPr>
              <a:xfrm>
                <a:off x="5308107" y="1908000"/>
                <a:ext cx="1808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/>
                  <a:t>Commission</a:t>
                </a:r>
                <a:endParaRPr lang="zh-CN" altLang="en-US" b="1" dirty="0"/>
              </a:p>
            </p:txBody>
          </p:sp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F3D64741-048B-6465-1217-A0EEC8D89F7A}"/>
                  </a:ext>
                </a:extLst>
              </p:cNvPr>
              <p:cNvSpPr/>
              <p:nvPr/>
            </p:nvSpPr>
            <p:spPr>
              <a:xfrm>
                <a:off x="7117105" y="1862678"/>
                <a:ext cx="3043137" cy="47195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zh-CN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%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51" name="箭头: 右 50">
            <a:extLst>
              <a:ext uri="{FF2B5EF4-FFF2-40B4-BE49-F238E27FC236}">
                <a16:creationId xmlns:a16="http://schemas.microsoft.com/office/drawing/2014/main" id="{33B6FB50-514C-91D9-3197-B14C754F4512}"/>
              </a:ext>
            </a:extLst>
          </p:cNvPr>
          <p:cNvSpPr/>
          <p:nvPr/>
        </p:nvSpPr>
        <p:spPr>
          <a:xfrm>
            <a:off x="7509749" y="2972463"/>
            <a:ext cx="1402240" cy="1152155"/>
          </a:xfrm>
          <a:prstGeom prst="rightArrow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compute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6C2F540-0F1E-0C81-9E3A-F2486E62F910}"/>
              </a:ext>
            </a:extLst>
          </p:cNvPr>
          <p:cNvGrpSpPr/>
          <p:nvPr/>
        </p:nvGrpSpPr>
        <p:grpSpPr>
          <a:xfrm>
            <a:off x="9324994" y="2750585"/>
            <a:ext cx="2477883" cy="1390554"/>
            <a:chOff x="9253183" y="2038446"/>
            <a:chExt cx="2477883" cy="1723233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A0E65247-7718-A892-FD2F-6967672188AD}"/>
                </a:ext>
              </a:extLst>
            </p:cNvPr>
            <p:cNvSpPr/>
            <p:nvPr/>
          </p:nvSpPr>
          <p:spPr>
            <a:xfrm>
              <a:off x="9253183" y="2038446"/>
              <a:ext cx="2477883" cy="172323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D26DC0C-3BFA-8959-E730-4FCFD0B27D16}"/>
                </a:ext>
              </a:extLst>
            </p:cNvPr>
            <p:cNvSpPr txBox="1"/>
            <p:nvPr/>
          </p:nvSpPr>
          <p:spPr>
            <a:xfrm>
              <a:off x="9361299" y="2526950"/>
              <a:ext cx="21154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Income</a:t>
              </a:r>
              <a:endParaRPr lang="zh-CN" altLang="en-US" b="1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97EC4332-9530-3E95-47F5-56DBCA4D4D80}"/>
                </a:ext>
              </a:extLst>
            </p:cNvPr>
            <p:cNvSpPr/>
            <p:nvPr/>
          </p:nvSpPr>
          <p:spPr>
            <a:xfrm>
              <a:off x="9640277" y="3038944"/>
              <a:ext cx="1703693" cy="471951"/>
            </a:xfrm>
            <a:prstGeom prst="roundRect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466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71DA3-9AF2-7E9A-F592-04C750DC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A624AB-BCCB-DBAD-E2E1-97F434D740A2}"/>
              </a:ext>
            </a:extLst>
          </p:cNvPr>
          <p:cNvSpPr txBox="1"/>
          <p:nvPr/>
        </p:nvSpPr>
        <p:spPr>
          <a:xfrm>
            <a:off x="3254828" y="2757715"/>
            <a:ext cx="5548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Database design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23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4C390-E1F5-7928-1842-8426C9B8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108B2B8-CB92-603A-8218-1B8CD5EFE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86400"/>
              </p:ext>
            </p:extLst>
          </p:nvPr>
        </p:nvGraphicFramePr>
        <p:xfrm>
          <a:off x="191595" y="2499097"/>
          <a:ext cx="9958252" cy="14782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83178">
                  <a:extLst>
                    <a:ext uri="{9D8B030D-6E8A-4147-A177-3AD203B41FA5}">
                      <a16:colId xmlns:a16="http://schemas.microsoft.com/office/drawing/2014/main" val="662346777"/>
                    </a:ext>
                  </a:extLst>
                </a:gridCol>
                <a:gridCol w="679268">
                  <a:extLst>
                    <a:ext uri="{9D8B030D-6E8A-4147-A177-3AD203B41FA5}">
                      <a16:colId xmlns:a16="http://schemas.microsoft.com/office/drawing/2014/main" val="204545914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38472"/>
                    </a:ext>
                  </a:extLst>
                </a:gridCol>
                <a:gridCol w="1730829">
                  <a:extLst>
                    <a:ext uri="{9D8B030D-6E8A-4147-A177-3AD203B41FA5}">
                      <a16:colId xmlns:a16="http://schemas.microsoft.com/office/drawing/2014/main" val="23572768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7155234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3968488209"/>
                    </a:ext>
                  </a:extLst>
                </a:gridCol>
                <a:gridCol w="1345474">
                  <a:extLst>
                    <a:ext uri="{9D8B030D-6E8A-4147-A177-3AD203B41FA5}">
                      <a16:colId xmlns:a16="http://schemas.microsoft.com/office/drawing/2014/main" val="1479935241"/>
                    </a:ext>
                  </a:extLst>
                </a:gridCol>
                <a:gridCol w="1058091">
                  <a:extLst>
                    <a:ext uri="{9D8B030D-6E8A-4147-A177-3AD203B41FA5}">
                      <a16:colId xmlns:a16="http://schemas.microsoft.com/office/drawing/2014/main" val="1680138366"/>
                    </a:ext>
                  </a:extLst>
                </a:gridCol>
                <a:gridCol w="692332">
                  <a:extLst>
                    <a:ext uri="{9D8B030D-6E8A-4147-A177-3AD203B41FA5}">
                      <a16:colId xmlns:a16="http://schemas.microsoft.com/office/drawing/2014/main" val="3767821547"/>
                    </a:ext>
                  </a:extLst>
                </a:gridCol>
              </a:tblGrid>
              <a:tr h="24819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tradedGoldPrice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moneyAmount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weightAmount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commission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principal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note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14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accent4"/>
                          </a:solidFill>
                        </a:rPr>
                        <a:t>0 buy</a:t>
                      </a:r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accent4"/>
                          </a:solidFill>
                        </a:rPr>
                        <a:t>1 sell</a:t>
                      </a:r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33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455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C07C2FE-A170-F1F9-4CEE-1D98BC9C55C6}"/>
              </a:ext>
            </a:extLst>
          </p:cNvPr>
          <p:cNvSpPr txBox="1"/>
          <p:nvPr/>
        </p:nvSpPr>
        <p:spPr>
          <a:xfrm>
            <a:off x="374249" y="1182362"/>
            <a:ext cx="139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history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117F46D-9EC4-0F5A-7A6A-7314EFDB10D3}"/>
              </a:ext>
            </a:extLst>
          </p:cNvPr>
          <p:cNvSpPr/>
          <p:nvPr/>
        </p:nvSpPr>
        <p:spPr>
          <a:xfrm>
            <a:off x="63378" y="5447124"/>
            <a:ext cx="1882164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BIGINT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AUTO_INCREMENT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PRIMARY KEY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71D15D2-4256-3545-2941-99729C9193DF}"/>
              </a:ext>
            </a:extLst>
          </p:cNvPr>
          <p:cNvSpPr/>
          <p:nvPr/>
        </p:nvSpPr>
        <p:spPr>
          <a:xfrm>
            <a:off x="2019260" y="5447124"/>
            <a:ext cx="1132420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DATETIME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3550457-66C8-EEF9-2D27-D12507463CFB}"/>
              </a:ext>
            </a:extLst>
          </p:cNvPr>
          <p:cNvSpPr/>
          <p:nvPr/>
        </p:nvSpPr>
        <p:spPr>
          <a:xfrm>
            <a:off x="3248548" y="5447124"/>
            <a:ext cx="1132420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04BE22A-498E-99CA-498C-B5724B809CB9}"/>
              </a:ext>
            </a:extLst>
          </p:cNvPr>
          <p:cNvSpPr/>
          <p:nvPr/>
        </p:nvSpPr>
        <p:spPr>
          <a:xfrm>
            <a:off x="4521150" y="5447124"/>
            <a:ext cx="1132421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DECIMAL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(11, 2)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068ABC4-6BD0-40FC-CE8A-1E1F53C36864}"/>
              </a:ext>
            </a:extLst>
          </p:cNvPr>
          <p:cNvSpPr/>
          <p:nvPr/>
        </p:nvSpPr>
        <p:spPr>
          <a:xfrm>
            <a:off x="5793753" y="5447124"/>
            <a:ext cx="1121510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DECIMAL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(11, 2)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D56294D-CBC0-9948-6DA7-A11861C899C0}"/>
              </a:ext>
            </a:extLst>
          </p:cNvPr>
          <p:cNvSpPr/>
          <p:nvPr/>
        </p:nvSpPr>
        <p:spPr>
          <a:xfrm>
            <a:off x="10849911" y="5447124"/>
            <a:ext cx="1088104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VARCHAR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821A69E-F30C-B500-3580-0959DE67C149}"/>
              </a:ext>
            </a:extLst>
          </p:cNvPr>
          <p:cNvCxnSpPr>
            <a:cxnSpLocks/>
          </p:cNvCxnSpPr>
          <p:nvPr/>
        </p:nvCxnSpPr>
        <p:spPr>
          <a:xfrm>
            <a:off x="424714" y="3980617"/>
            <a:ext cx="579746" cy="14665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3820777B-6453-AC1D-DD27-94952C6068B7}"/>
              </a:ext>
            </a:extLst>
          </p:cNvPr>
          <p:cNvCxnSpPr>
            <a:cxnSpLocks/>
          </p:cNvCxnSpPr>
          <p:nvPr/>
        </p:nvCxnSpPr>
        <p:spPr>
          <a:xfrm>
            <a:off x="951971" y="3987097"/>
            <a:ext cx="1633499" cy="14600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F4F0981-8318-85C3-D5C7-24C9CA00E224}"/>
              </a:ext>
            </a:extLst>
          </p:cNvPr>
          <p:cNvCxnSpPr>
            <a:cxnSpLocks/>
          </p:cNvCxnSpPr>
          <p:nvPr/>
        </p:nvCxnSpPr>
        <p:spPr>
          <a:xfrm>
            <a:off x="1654002" y="3980617"/>
            <a:ext cx="2160756" cy="14665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5735661-CF03-36B8-8C40-26D56CEF0592}"/>
              </a:ext>
            </a:extLst>
          </p:cNvPr>
          <p:cNvCxnSpPr>
            <a:cxnSpLocks/>
          </p:cNvCxnSpPr>
          <p:nvPr/>
        </p:nvCxnSpPr>
        <p:spPr>
          <a:xfrm>
            <a:off x="2891459" y="4021790"/>
            <a:ext cx="2195902" cy="14253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5A4A4C8C-6A04-B8A8-F859-86366DAD88C9}"/>
              </a:ext>
            </a:extLst>
          </p:cNvPr>
          <p:cNvCxnSpPr>
            <a:cxnSpLocks/>
          </p:cNvCxnSpPr>
          <p:nvPr/>
        </p:nvCxnSpPr>
        <p:spPr>
          <a:xfrm>
            <a:off x="4544961" y="3987097"/>
            <a:ext cx="1809547" cy="14600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CBFD39E-80CD-2E62-B8EB-EDFCAE832858}"/>
              </a:ext>
            </a:extLst>
          </p:cNvPr>
          <p:cNvCxnSpPr>
            <a:cxnSpLocks/>
          </p:cNvCxnSpPr>
          <p:nvPr/>
        </p:nvCxnSpPr>
        <p:spPr>
          <a:xfrm>
            <a:off x="9829800" y="3987097"/>
            <a:ext cx="1689577" cy="14600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BD0AC267-27E0-763E-8F23-400E079A5ADF}"/>
              </a:ext>
            </a:extLst>
          </p:cNvPr>
          <p:cNvSpPr txBox="1"/>
          <p:nvPr/>
        </p:nvSpPr>
        <p:spPr>
          <a:xfrm>
            <a:off x="10439400" y="417260"/>
            <a:ext cx="171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MySQL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3C4A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5E4F6D3-7015-BCCE-803A-B3535D8F781F}"/>
              </a:ext>
            </a:extLst>
          </p:cNvPr>
          <p:cNvSpPr/>
          <p:nvPr/>
        </p:nvSpPr>
        <p:spPr>
          <a:xfrm>
            <a:off x="8317137" y="5447124"/>
            <a:ext cx="1069749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DECIMAL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(11, 2)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BABAF50-97A4-F000-447F-AF1EA6E432F1}"/>
              </a:ext>
            </a:extLst>
          </p:cNvPr>
          <p:cNvCxnSpPr>
            <a:cxnSpLocks/>
          </p:cNvCxnSpPr>
          <p:nvPr/>
        </p:nvCxnSpPr>
        <p:spPr>
          <a:xfrm>
            <a:off x="7559834" y="3987097"/>
            <a:ext cx="1292178" cy="14600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4C376DC-2808-65DD-418B-7F30E99D30A8}"/>
              </a:ext>
            </a:extLst>
          </p:cNvPr>
          <p:cNvSpPr/>
          <p:nvPr/>
        </p:nvSpPr>
        <p:spPr>
          <a:xfrm>
            <a:off x="7055445" y="5447124"/>
            <a:ext cx="1121510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DECIMAL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(11, 4)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5EF8FD9-71BA-97E6-C28E-AF6E6738AED3}"/>
              </a:ext>
            </a:extLst>
          </p:cNvPr>
          <p:cNvCxnSpPr>
            <a:cxnSpLocks/>
          </p:cNvCxnSpPr>
          <p:nvPr/>
        </p:nvCxnSpPr>
        <p:spPr>
          <a:xfrm>
            <a:off x="6314590" y="3980617"/>
            <a:ext cx="1301610" cy="14720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E2EEDC7-DD96-2326-4FAA-D3CAD1F9D096}"/>
              </a:ext>
            </a:extLst>
          </p:cNvPr>
          <p:cNvSpPr/>
          <p:nvPr/>
        </p:nvSpPr>
        <p:spPr>
          <a:xfrm>
            <a:off x="9550879" y="5447124"/>
            <a:ext cx="1121510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DECIMAL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(11, 2)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B8CE33-04FC-14F0-119F-C28401FA87FA}"/>
              </a:ext>
            </a:extLst>
          </p:cNvPr>
          <p:cNvCxnSpPr>
            <a:cxnSpLocks/>
          </p:cNvCxnSpPr>
          <p:nvPr/>
        </p:nvCxnSpPr>
        <p:spPr>
          <a:xfrm>
            <a:off x="8821526" y="3987097"/>
            <a:ext cx="1290108" cy="14600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22EC864-371F-A198-B10F-CF5B9BD91AAE}"/>
              </a:ext>
            </a:extLst>
          </p:cNvPr>
          <p:cNvSpPr txBox="1"/>
          <p:nvPr/>
        </p:nvSpPr>
        <p:spPr>
          <a:xfrm>
            <a:off x="6502266" y="199566"/>
            <a:ext cx="320343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CREATE TABLE IF NOT EXISTS `history` (</a:t>
            </a:r>
          </a:p>
          <a:p>
            <a:r>
              <a:rPr lang="zh-CN" altLang="en-US" sz="1200" dirty="0"/>
              <a:t>  `id` BIGINT AUTO_INCREMENT PRIMARY KEY,</a:t>
            </a:r>
          </a:p>
          <a:p>
            <a:r>
              <a:rPr lang="zh-CN" altLang="en-US" sz="1200" dirty="0"/>
              <a:t>  `time` DATETIME NOT NULL,</a:t>
            </a:r>
          </a:p>
          <a:p>
            <a:r>
              <a:rPr lang="zh-CN" altLang="en-US" sz="1200" dirty="0"/>
              <a:t>  `type` INT NOT NULL, </a:t>
            </a:r>
            <a:endParaRPr lang="en-US" altLang="zh-CN" sz="1200" dirty="0"/>
          </a:p>
          <a:p>
            <a:r>
              <a:rPr lang="en-US" altLang="zh-CN" sz="1200" dirty="0"/>
              <a:t>  </a:t>
            </a:r>
            <a:r>
              <a:rPr lang="zh-CN" altLang="en-US" sz="1200" dirty="0"/>
              <a:t>`tradedGoldPrice` DECIMAL(11,2) NOT NULL,</a:t>
            </a:r>
          </a:p>
          <a:p>
            <a:r>
              <a:rPr lang="zh-CN" altLang="en-US" sz="1200" dirty="0"/>
              <a:t>  `moneyAmount` DECIMAL(11,2) NOT NULL,</a:t>
            </a:r>
          </a:p>
          <a:p>
            <a:r>
              <a:rPr lang="zh-CN" altLang="en-US" sz="1200" dirty="0"/>
              <a:t>  `weightAmount` DECIMAL(11,</a:t>
            </a:r>
            <a:r>
              <a:rPr lang="en-US" altLang="zh-CN" sz="1200" dirty="0"/>
              <a:t>4</a:t>
            </a:r>
            <a:r>
              <a:rPr lang="zh-CN" altLang="en-US" sz="1200" dirty="0"/>
              <a:t>) NOT NULL,</a:t>
            </a:r>
          </a:p>
          <a:p>
            <a:r>
              <a:rPr lang="zh-CN" altLang="en-US" sz="1200" dirty="0"/>
              <a:t>  `commission` DECIMAL(11,2) NOT NULL,</a:t>
            </a:r>
          </a:p>
          <a:p>
            <a:r>
              <a:rPr lang="zh-CN" altLang="en-US" sz="1200" dirty="0"/>
              <a:t>  `principal` DECIMAL(11,2) NOT NULL,</a:t>
            </a:r>
          </a:p>
          <a:p>
            <a:r>
              <a:rPr lang="zh-CN" altLang="en-US" sz="1200" dirty="0"/>
              <a:t>  `note` VARCHAR(255)</a:t>
            </a:r>
          </a:p>
          <a:p>
            <a:r>
              <a:rPr lang="zh-CN" altLang="en-US" sz="1200" dirty="0"/>
              <a:t>) ENGINE=InnoDB DEFAULT CHARSET=utf8mb4;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74BAA7-4AD9-BE3B-EDA0-FE8D5D5B7485}"/>
              </a:ext>
            </a:extLst>
          </p:cNvPr>
          <p:cNvSpPr txBox="1"/>
          <p:nvPr/>
        </p:nvSpPr>
        <p:spPr>
          <a:xfrm>
            <a:off x="2591684" y="1216038"/>
            <a:ext cx="279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根本不用这个表！！！</a:t>
            </a:r>
          </a:p>
        </p:txBody>
      </p:sp>
    </p:spTree>
    <p:extLst>
      <p:ext uri="{BB962C8B-B14F-4D97-AF65-F5344CB8AC3E}">
        <p14:creationId xmlns:p14="http://schemas.microsoft.com/office/powerpoint/2010/main" val="313382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4EDA-4806-F960-28A8-3B934888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DB871D6-FB0F-4FBC-B0D4-D8437B3F4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906084"/>
              </p:ext>
            </p:extLst>
          </p:nvPr>
        </p:nvGraphicFramePr>
        <p:xfrm>
          <a:off x="4045828" y="1651726"/>
          <a:ext cx="2845561" cy="2225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44489">
                  <a:extLst>
                    <a:ext uri="{9D8B030D-6E8A-4147-A177-3AD203B41FA5}">
                      <a16:colId xmlns:a16="http://schemas.microsoft.com/office/drawing/2014/main" val="3149529303"/>
                    </a:ext>
                  </a:extLst>
                </a:gridCol>
                <a:gridCol w="844489">
                  <a:extLst>
                    <a:ext uri="{9D8B030D-6E8A-4147-A177-3AD203B41FA5}">
                      <a16:colId xmlns:a16="http://schemas.microsoft.com/office/drawing/2014/main" val="662346777"/>
                    </a:ext>
                  </a:extLst>
                </a:gridCol>
                <a:gridCol w="1156583">
                  <a:extLst>
                    <a:ext uri="{9D8B030D-6E8A-4147-A177-3AD203B41FA5}">
                      <a16:colId xmlns:a16="http://schemas.microsoft.com/office/drawing/2014/main" val="771571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GoldPrice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14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33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72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149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2455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07DE3B-B828-445C-E043-25FCF235BE43}"/>
              </a:ext>
            </a:extLst>
          </p:cNvPr>
          <p:cNvSpPr txBox="1"/>
          <p:nvPr/>
        </p:nvSpPr>
        <p:spPr>
          <a:xfrm>
            <a:off x="4417791" y="1004676"/>
            <a:ext cx="215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m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inute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_price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BB4EBB4-3CE3-68F2-587A-0142A5FA5FB8}"/>
              </a:ext>
            </a:extLst>
          </p:cNvPr>
          <p:cNvSpPr/>
          <p:nvPr/>
        </p:nvSpPr>
        <p:spPr>
          <a:xfrm>
            <a:off x="4632655" y="5020720"/>
            <a:ext cx="1238695" cy="762098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DATETIME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17723E1-1092-A4C1-BB79-51379504565C}"/>
              </a:ext>
            </a:extLst>
          </p:cNvPr>
          <p:cNvSpPr/>
          <p:nvPr/>
        </p:nvSpPr>
        <p:spPr>
          <a:xfrm>
            <a:off x="5912543" y="5020720"/>
            <a:ext cx="1238695" cy="986971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DOUBLE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NOT NULL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701D224E-E3FE-C39C-0738-504FAF85313F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5252003" y="3865876"/>
            <a:ext cx="201980" cy="11548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84C8EA8F-9AC3-2C0D-FCB6-6E4FAB9C9D57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6494404" y="3873968"/>
            <a:ext cx="37487" cy="11467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36527FB8-A8DC-0AA1-0037-96035EBFA046}"/>
              </a:ext>
            </a:extLst>
          </p:cNvPr>
          <p:cNvSpPr txBox="1"/>
          <p:nvPr/>
        </p:nvSpPr>
        <p:spPr>
          <a:xfrm>
            <a:off x="10439400" y="417260"/>
            <a:ext cx="171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MySQL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3C4A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626359D-EED4-09BA-2588-85E4BF747365}"/>
              </a:ext>
            </a:extLst>
          </p:cNvPr>
          <p:cNvSpPr/>
          <p:nvPr/>
        </p:nvSpPr>
        <p:spPr>
          <a:xfrm>
            <a:off x="3347548" y="5020720"/>
            <a:ext cx="1238695" cy="151778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3C4A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BIGINT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AUTO_INCREMENT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PRIMARY KEY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D9217FF-489E-8433-5EF1-54A1FF82D48C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966896" y="3873968"/>
            <a:ext cx="514554" cy="11467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43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BAEF-DE41-F2BF-C4C8-AEF05B6C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011E65-EA96-BAC8-7B75-A6B772D2F046}"/>
              </a:ext>
            </a:extLst>
          </p:cNvPr>
          <p:cNvSpPr txBox="1"/>
          <p:nvPr/>
        </p:nvSpPr>
        <p:spPr>
          <a:xfrm>
            <a:off x="3254828" y="2757715"/>
            <a:ext cx="5548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Interfaces design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EEB2F-CA9E-6BB8-04B8-DC3F1229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C6DD51-EF27-AE43-A2D7-41C80935089B}"/>
              </a:ext>
            </a:extLst>
          </p:cNvPr>
          <p:cNvSpPr txBox="1"/>
          <p:nvPr/>
        </p:nvSpPr>
        <p:spPr>
          <a:xfrm>
            <a:off x="344409" y="297250"/>
            <a:ext cx="3844187" cy="143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计算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Path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/compute</a:t>
            </a:r>
            <a:r>
              <a:rPr lang="en-US" altLang="zh-CN" dirty="0" err="1"/>
              <a:t>AndDownload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Method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GET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0198BE-95A9-FF81-D903-BC835363C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092164"/>
              </p:ext>
            </p:extLst>
          </p:nvPr>
        </p:nvGraphicFramePr>
        <p:xfrm>
          <a:off x="6169741" y="3429000"/>
          <a:ext cx="2490165" cy="14782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64869">
                  <a:extLst>
                    <a:ext uri="{9D8B030D-6E8A-4147-A177-3AD203B41FA5}">
                      <a16:colId xmlns:a16="http://schemas.microsoft.com/office/drawing/2014/main" val="52154686"/>
                    </a:ext>
                  </a:extLst>
                </a:gridCol>
                <a:gridCol w="1025296">
                  <a:extLst>
                    <a:ext uri="{9D8B030D-6E8A-4147-A177-3AD203B41FA5}">
                      <a16:colId xmlns:a16="http://schemas.microsoft.com/office/drawing/2014/main" val="454720125"/>
                    </a:ext>
                  </a:extLst>
                </a:gridCol>
              </a:tblGrid>
              <a:tr h="31201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参数名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code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integer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26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income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number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85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downloadUrl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string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096119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5213F56-4D24-B874-AB45-02CC021B2453}"/>
              </a:ext>
            </a:extLst>
          </p:cNvPr>
          <p:cNvSpPr txBox="1"/>
          <p:nvPr/>
        </p:nvSpPr>
        <p:spPr>
          <a:xfrm>
            <a:off x="6017342" y="2905044"/>
            <a:ext cx="279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返回数据：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73D62F8-0B83-6CC1-CAA3-D50DA8457955}"/>
              </a:ext>
            </a:extLst>
          </p:cNvPr>
          <p:cNvCxnSpPr>
            <a:cxnSpLocks/>
          </p:cNvCxnSpPr>
          <p:nvPr/>
        </p:nvCxnSpPr>
        <p:spPr>
          <a:xfrm>
            <a:off x="5513976" y="1486358"/>
            <a:ext cx="0" cy="5025597"/>
          </a:xfrm>
          <a:prstGeom prst="line">
            <a:avLst/>
          </a:prstGeom>
          <a:ln w="28575">
            <a:solidFill>
              <a:srgbClr val="FFF2C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9435B56-F5A6-3538-6679-23F1E3E62284}"/>
              </a:ext>
            </a:extLst>
          </p:cNvPr>
          <p:cNvSpPr txBox="1"/>
          <p:nvPr/>
        </p:nvSpPr>
        <p:spPr>
          <a:xfrm>
            <a:off x="205985" y="1852612"/>
            <a:ext cx="2795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请求参数：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Headers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Body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989DF3-725C-B361-891D-AD1E198A9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802337"/>
              </p:ext>
            </p:extLst>
          </p:nvPr>
        </p:nvGraphicFramePr>
        <p:xfrm>
          <a:off x="344409" y="2536744"/>
          <a:ext cx="4625533" cy="736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597744">
                  <a:extLst>
                    <a:ext uri="{9D8B030D-6E8A-4147-A177-3AD203B41FA5}">
                      <a16:colId xmlns:a16="http://schemas.microsoft.com/office/drawing/2014/main" val="52154686"/>
                    </a:ext>
                  </a:extLst>
                </a:gridCol>
                <a:gridCol w="1731624">
                  <a:extLst>
                    <a:ext uri="{9D8B030D-6E8A-4147-A177-3AD203B41FA5}">
                      <a16:colId xmlns:a16="http://schemas.microsoft.com/office/drawing/2014/main" val="3171539816"/>
                    </a:ext>
                  </a:extLst>
                </a:gridCol>
                <a:gridCol w="1296165">
                  <a:extLst>
                    <a:ext uri="{9D8B030D-6E8A-4147-A177-3AD203B41FA5}">
                      <a16:colId xmlns:a16="http://schemas.microsoft.com/office/drawing/2014/main" val="1053932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参数名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参数值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是否必须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Content-Type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Application/</a:t>
                      </a:r>
                      <a:r>
                        <a:rPr lang="en-US" altLang="zh-CN" dirty="0" err="1"/>
                        <a:t>json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26245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185B477-F82A-8467-48EC-BD96C3434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247361"/>
              </p:ext>
            </p:extLst>
          </p:nvPr>
        </p:nvGraphicFramePr>
        <p:xfrm>
          <a:off x="316024" y="3999157"/>
          <a:ext cx="3900956" cy="25908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25205">
                  <a:extLst>
                    <a:ext uri="{9D8B030D-6E8A-4147-A177-3AD203B41FA5}">
                      <a16:colId xmlns:a16="http://schemas.microsoft.com/office/drawing/2014/main" val="52154686"/>
                    </a:ext>
                  </a:extLst>
                </a:gridCol>
                <a:gridCol w="2175751">
                  <a:extLst>
                    <a:ext uri="{9D8B030D-6E8A-4147-A177-3AD203B41FA5}">
                      <a16:colId xmlns:a16="http://schemas.microsoft.com/office/drawing/2014/main" val="1053932550"/>
                    </a:ext>
                  </a:extLst>
                </a:gridCol>
              </a:tblGrid>
              <a:tr h="312010"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参数名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实例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startTime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2022-05-01 23:22:45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051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endTime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2022-05-01 23:22:45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995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amount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662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singleAmount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17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difference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704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commission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521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74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黄金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0000"/>
      </a:accent1>
      <a:accent2>
        <a:srgbClr val="226089"/>
      </a:accent2>
      <a:accent3>
        <a:srgbClr val="4592AF"/>
      </a:accent3>
      <a:accent4>
        <a:srgbClr val="E3C4A8"/>
      </a:accent4>
      <a:accent5>
        <a:srgbClr val="FFFFFF"/>
      </a:accent5>
      <a:accent6>
        <a:srgbClr val="FFFFFF"/>
      </a:accent6>
      <a:hlink>
        <a:srgbClr val="000000"/>
      </a:hlink>
      <a:folHlink>
        <a:srgbClr val="000000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753</Words>
  <Application>Microsoft Office PowerPoint</Application>
  <PresentationFormat>宽屏</PresentationFormat>
  <Paragraphs>170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阿里巴巴普惠体</vt:lpstr>
      <vt:lpstr>阿里巴巴普惠体 2.0 115 Black</vt:lpstr>
      <vt:lpstr>阿里巴巴普惠体 2.0 55 Regular</vt:lpstr>
      <vt:lpstr>阿里巴巴普惠体 2.0 65 Medium</vt:lpstr>
      <vt:lpstr>阿里巴巴普惠体 Heavy</vt:lpstr>
      <vt:lpstr>等线</vt:lpstr>
      <vt:lpstr>等线 Light</vt:lpstr>
      <vt:lpstr>Arial</vt:lpstr>
      <vt:lpstr>Calibri</vt:lpstr>
      <vt:lpstr>Calibri Light</vt:lpstr>
      <vt:lpstr>Cambria Math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芊 梁</dc:creator>
  <cp:lastModifiedBy>芊 梁</cp:lastModifiedBy>
  <cp:revision>11</cp:revision>
  <dcterms:created xsi:type="dcterms:W3CDTF">2024-11-08T07:52:36Z</dcterms:created>
  <dcterms:modified xsi:type="dcterms:W3CDTF">2025-03-24T04:46:06Z</dcterms:modified>
</cp:coreProperties>
</file>